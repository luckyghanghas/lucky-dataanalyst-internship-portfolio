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Retail Sales Performance Dashboard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035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3 - KPI dashboard built from cleaned sales transaction data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11338560" cy="0"/>
          </a:xfrm>
          <a:prstGeom prst="line">
            <a:avLst/>
          </a:prstGeom>
          <a:noFill/>
          <a:ln w="12700">
            <a:solidFill>
              <a:srgbClr val="D9D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143000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143000"/>
            <a:ext cx="64008" cy="841248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271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Revenue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03504" y="1536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126"/>
                </a:solidFill>
              </a:rPr>
              <a:t>$5,328,492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24912" y="1143000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24912" y="1143000"/>
            <a:ext cx="64008" cy="841248"/>
          </a:xfrm>
          <a:prstGeom prst="rect">
            <a:avLst/>
          </a:prstGeom>
          <a:solidFill>
            <a:srgbClr val="A35C2D"/>
          </a:solidFill>
          <a:ln w="12700">
            <a:solidFill>
              <a:srgbClr val="A35C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1271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Orders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889504" y="1536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126"/>
                </a:solidFill>
              </a:rPr>
              <a:t>1,250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10912" y="1143000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10912" y="1143000"/>
            <a:ext cx="64008" cy="841248"/>
          </a:xfrm>
          <a:prstGeom prst="rect">
            <a:avLst/>
          </a:prstGeom>
          <a:solidFill>
            <a:srgbClr val="5368A6"/>
          </a:solidFill>
          <a:ln w="12700">
            <a:solidFill>
              <a:srgbClr val="536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5504" y="1271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AOV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75504" y="1536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126"/>
                </a:solidFill>
              </a:rPr>
              <a:t>$4,263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96912" y="1143000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1143000"/>
            <a:ext cx="64008" cy="841248"/>
          </a:xfrm>
          <a:prstGeom prst="rect">
            <a:avLst/>
          </a:prstGeom>
          <a:solidFill>
            <a:srgbClr val="789262"/>
          </a:solidFill>
          <a:ln w="12700">
            <a:solidFill>
              <a:srgbClr val="7892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1271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Gross Margin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461504" y="1536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126"/>
                </a:solidFill>
              </a:rPr>
              <a:t>20.3%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82912" y="1143000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82912" y="1143000"/>
            <a:ext cx="64008" cy="841248"/>
          </a:xfrm>
          <a:prstGeom prst="rect">
            <a:avLst/>
          </a:prstGeom>
          <a:solidFill>
            <a:srgbClr val="B74D4A"/>
          </a:solidFill>
          <a:ln w="12700">
            <a:solidFill>
              <a:srgbClr val="B74D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47504" y="1271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36D"/>
                </a:solidFill>
              </a:rPr>
              <a:t>Return Rate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47504" y="1536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126"/>
                </a:solidFill>
              </a:rPr>
              <a:t>5.2%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38912" y="2240280"/>
            <a:ext cx="539496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53328" y="2240280"/>
            <a:ext cx="571500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254203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6"/>
                </a:solidFill>
              </a:rPr>
              <a:t>Revenue by Sales Channel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" y="29626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Website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1856232" y="2935224"/>
            <a:ext cx="3383280" cy="146304"/>
          </a:xfrm>
          <a:prstGeom prst="roundRect">
            <a:avLst>
              <a:gd name="adj" fmla="val 25000"/>
            </a:avLst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12664" y="292608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$2,464,280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713232" y="36118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Mobile App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1856232" y="3584448"/>
            <a:ext cx="2820680" cy="146304"/>
          </a:xfrm>
          <a:prstGeom prst="roundRect">
            <a:avLst>
              <a:gd name="adj" fmla="val 25000"/>
            </a:avLst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0064" y="35753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$2,054,499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713232" y="42611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Retail Store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1856232" y="4233672"/>
            <a:ext cx="1111680" cy="146304"/>
          </a:xfrm>
          <a:prstGeom prst="roundRect">
            <a:avLst>
              <a:gd name="adj" fmla="val 25000"/>
            </a:avLst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41064" y="42245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$809,714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327648" y="2542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6"/>
                </a:solidFill>
              </a:rPr>
              <a:t>Recent Monthly Revenue Trend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27648" y="29626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2025-08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7470648" y="2935224"/>
            <a:ext cx="2736892" cy="146304"/>
          </a:xfrm>
          <a:prstGeom prst="roundRect">
            <a:avLst>
              <a:gd name="adj" fmla="val 25000"/>
            </a:avLst>
          </a:prstGeom>
          <a:solidFill>
            <a:srgbClr val="5368A6"/>
          </a:solidFill>
          <a:ln w="12700">
            <a:solidFill>
              <a:srgbClr val="536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80692" y="292608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$334,843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6327648" y="3251835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2025-09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7470648" y="3224403"/>
            <a:ext cx="2825431" cy="146304"/>
          </a:xfrm>
          <a:prstGeom prst="roundRect">
            <a:avLst>
              <a:gd name="adj" fmla="val 25000"/>
            </a:avLst>
          </a:prstGeom>
          <a:solidFill>
            <a:srgbClr val="5368A6"/>
          </a:solidFill>
          <a:ln w="12700">
            <a:solidFill>
              <a:srgbClr val="536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69231" y="3215259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$345,675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6327648" y="354101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2025-10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7470648" y="3513582"/>
            <a:ext cx="2975915" cy="146304"/>
          </a:xfrm>
          <a:prstGeom prst="roundRect">
            <a:avLst>
              <a:gd name="adj" fmla="val 25000"/>
            </a:avLst>
          </a:prstGeom>
          <a:solidFill>
            <a:srgbClr val="5368A6"/>
          </a:solidFill>
          <a:ln w="12700">
            <a:solidFill>
              <a:srgbClr val="536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9715" y="350443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$364,086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327648" y="3830193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2025-11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7470648" y="3802761"/>
            <a:ext cx="2699483" cy="146304"/>
          </a:xfrm>
          <a:prstGeom prst="roundRect">
            <a:avLst>
              <a:gd name="adj" fmla="val 25000"/>
            </a:avLst>
          </a:prstGeom>
          <a:solidFill>
            <a:srgbClr val="5368A6"/>
          </a:solidFill>
          <a:ln w="12700">
            <a:solidFill>
              <a:srgbClr val="5368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43283" y="3793617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$330,266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6327648" y="41193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2025-12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7470648" y="4091940"/>
            <a:ext cx="2664818" cy="146304"/>
          </a:xfrm>
          <a:prstGeom prst="roundRect">
            <a:avLst>
              <a:gd name="adj" fmla="val 25000"/>
            </a:avLst>
          </a:prstGeom>
          <a:solidFill>
            <a:srgbClr val="5368A6"/>
          </a:solidFill>
          <a:ln w="12700">
            <a:solidFill>
              <a:srgbClr val="5368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08618" y="408279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$326,025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6327648" y="4408551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2026-01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7470648" y="4381119"/>
            <a:ext cx="3611880" cy="146304"/>
          </a:xfrm>
          <a:prstGeom prst="roundRect">
            <a:avLst>
              <a:gd name="adj" fmla="val 25000"/>
            </a:avLst>
          </a:prstGeom>
          <a:solidFill>
            <a:srgbClr val="5368A6"/>
          </a:solidFill>
          <a:ln w="12700">
            <a:solidFill>
              <a:srgbClr val="5368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155680" y="4371975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$441,892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6327648" y="469773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2026-02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7470648" y="4670298"/>
            <a:ext cx="3174736" cy="146304"/>
          </a:xfrm>
          <a:prstGeom prst="roundRect">
            <a:avLst>
              <a:gd name="adj" fmla="val 25000"/>
            </a:avLst>
          </a:prstGeom>
          <a:solidFill>
            <a:srgbClr val="5368A6"/>
          </a:solidFill>
          <a:ln w="12700">
            <a:solidFill>
              <a:srgbClr val="5368A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718536" y="466115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$388,410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6327648" y="4986909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2026-03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7470648" y="4959477"/>
            <a:ext cx="2311393" cy="146304"/>
          </a:xfrm>
          <a:prstGeom prst="roundRect">
            <a:avLst>
              <a:gd name="adj" fmla="val 25000"/>
            </a:avLst>
          </a:prstGeom>
          <a:solidFill>
            <a:srgbClr val="5368A6"/>
          </a:solidFill>
          <a:ln w="12700">
            <a:solidFill>
              <a:srgbClr val="5368A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55193" y="4950333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$282,785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713232" y="5285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0504A"/>
                </a:solidFill>
              </a:rPr>
              <a:t>Decision signal: Website leads revenue, while Mobile App is close enough to justify retention investment.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327648" y="54406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0504A"/>
                </a:solidFill>
              </a:rPr>
              <a:t>Customer satisfaction average: 3.83 / 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Channel and Category Deep Dive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035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business should focus next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11338560" cy="0"/>
          </a:xfrm>
          <a:prstGeom prst="line">
            <a:avLst/>
          </a:prstGeom>
          <a:noFill/>
          <a:ln w="12700">
            <a:solidFill>
              <a:srgbClr val="D9D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544068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45352" y="1143000"/>
            <a:ext cx="544068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D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48132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6"/>
                </a:solidFill>
              </a:rPr>
              <a:t>Category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1901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Accessories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929384" y="1874520"/>
            <a:ext cx="3383280" cy="146304"/>
          </a:xfrm>
          <a:prstGeom prst="roundRect">
            <a:avLst>
              <a:gd name="adj" fmla="val 25000"/>
            </a:avLst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85816" y="18653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$1,609,822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86384" y="243459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Wearables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1929384" y="2407158"/>
            <a:ext cx="2875497" cy="146304"/>
          </a:xfrm>
          <a:prstGeom prst="roundRect">
            <a:avLst>
              <a:gd name="adj" fmla="val 25000"/>
            </a:avLst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8033" y="239801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$1,368,210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786384" y="29672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Audio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929384" y="2939796"/>
            <a:ext cx="2639012" cy="146304"/>
          </a:xfrm>
          <a:prstGeom prst="roundRect">
            <a:avLst>
              <a:gd name="adj" fmla="val 25000"/>
            </a:avLst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1548" y="29306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$1,255,686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786384" y="349986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Office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1929384" y="3472434"/>
            <a:ext cx="2300832" cy="146304"/>
          </a:xfrm>
          <a:prstGeom prst="roundRect">
            <a:avLst>
              <a:gd name="adj" fmla="val 25000"/>
            </a:avLst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3368" y="346329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$1,094,775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6528816" y="148132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6"/>
                </a:solidFill>
              </a:rPr>
              <a:t>Return Rate by Region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28816" y="1901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South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7671816" y="1874520"/>
            <a:ext cx="3383280" cy="146304"/>
          </a:xfrm>
          <a:prstGeom prst="roundRect">
            <a:avLst>
              <a:gd name="adj" fmla="val 25000"/>
            </a:avLst>
          </a:prstGeom>
          <a:solidFill>
            <a:srgbClr val="B74D4A"/>
          </a:solidFill>
          <a:ln w="12700">
            <a:solidFill>
              <a:srgbClr val="B74D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28248" y="18653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7.2%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6528816" y="243459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North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7671816" y="2407158"/>
            <a:ext cx="2676319" cy="146304"/>
          </a:xfrm>
          <a:prstGeom prst="roundRect">
            <a:avLst>
              <a:gd name="adj" fmla="val 25000"/>
            </a:avLst>
          </a:prstGeom>
          <a:solidFill>
            <a:srgbClr val="B74D4A"/>
          </a:solidFill>
          <a:ln w="12700">
            <a:solidFill>
              <a:srgbClr val="B74D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1287" y="239801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5.7%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28816" y="29672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East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7671816" y="2939796"/>
            <a:ext cx="1934454" cy="146304"/>
          </a:xfrm>
          <a:prstGeom prst="roundRect">
            <a:avLst>
              <a:gd name="adj" fmla="val 25000"/>
            </a:avLst>
          </a:prstGeom>
          <a:solidFill>
            <a:srgbClr val="B74D4A"/>
          </a:solidFill>
          <a:ln w="12700">
            <a:solidFill>
              <a:srgbClr val="B74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79422" y="29306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4.1%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6528816" y="349986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0504A"/>
                </a:solidFill>
              </a:rPr>
              <a:t>West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7671816" y="3472434"/>
            <a:ext cx="1805110" cy="146304"/>
          </a:xfrm>
          <a:prstGeom prst="roundRect">
            <a:avLst>
              <a:gd name="adj" fmla="val 25000"/>
            </a:avLst>
          </a:prstGeom>
          <a:solidFill>
            <a:srgbClr val="B74D4A"/>
          </a:solidFill>
          <a:ln w="12700">
            <a:solidFill>
              <a:srgbClr val="B74D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50078" y="346329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36D"/>
                </a:solidFill>
              </a:rPr>
              <a:t>3.8%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786384" y="4343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126"/>
                </a:solidFill>
              </a:rPr>
              <a:t>Category note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" y="45720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0504A"/>
                </a:solidFill>
              </a:rPr>
              <a:t>Accessories and Wearables provide strong revenue pools. Audio needs extra product education because return risk is higher.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528816" y="4343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126"/>
                </a:solidFill>
              </a:rPr>
              <a:t>Region note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28816" y="45720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0504A"/>
                </a:solidFill>
              </a:rPr>
              <a:t>South has the highest return rate. Review delivery timing, product mix, and expectations in this region first.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Recommendations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270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5C2D"/>
                </a:solidFill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60020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6"/>
                </a:solidFill>
              </a:rPr>
              <a:t>Invest in digital retention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490472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0504A"/>
                </a:solidFill>
              </a:rPr>
              <a:t>Website is the largest revenue driver and Mobile App is close behind, so loyalty campaigns should prioritize both digital channels.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EAF1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944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5C2D"/>
                </a:solidFill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6"/>
                </a:solidFill>
              </a:rPr>
              <a:t>Reduce category return risk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907792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0504A"/>
                </a:solidFill>
              </a:rPr>
              <a:t>Audio and high-return regions need better product detail pages, clearer expectations, and faster support loops.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85800" y="416052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F4E8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361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5C2D"/>
                </a:solidFill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43251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6"/>
                </a:solidFill>
              </a:rPr>
              <a:t>Track profit and experience together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4325112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0504A"/>
                </a:solidFill>
              </a:rPr>
              <a:t>Revenue alone is not enough. Weekly leadership reporting should pair revenue with gross margin, return rate, and rating.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685800" y="62362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6D1"/>
                </a:solidFill>
              </a:rPr>
              <a:t>Prepared for Task 3 - Deep-Dive Analysis &amp; Interactive Dashboarding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ApexPlanet Data Analytics Internship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Dashboard</dc:title>
  <dc:subject>Task 3 Data Analytics Dashboard</dc:subject>
  <dc:creator>luckyghanghas</dc:creator>
  <cp:lastModifiedBy>luckyghanghas</cp:lastModifiedBy>
  <cp:revision>1</cp:revision>
  <dcterms:created xsi:type="dcterms:W3CDTF">2026-05-28T09:32:20Z</dcterms:created>
  <dcterms:modified xsi:type="dcterms:W3CDTF">2026-05-28T09:32:20Z</dcterms:modified>
</cp:coreProperties>
</file>